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ap1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4160520" cy="3794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60920" y="1417320"/>
            <a:ext cx="4160520" cy="3794760"/>
          </a:xfrm>
          <a:prstGeom prst="rect">
            <a:avLst/>
          </a:prstGeom>
          <a:solidFill>
            <a:srgbClr val="07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7" name="Picture 6" descr="image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98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2A948"/>
                </a:solidFill>
                <a:latin typeface="Aptos"/>
              </a:rPr>
              <a:t>GMCO  •  SUMMER TRAINING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EFF5F5"/>
                </a:solidFill>
                <a:latin typeface="Aptos Display"/>
              </a:rPr>
              <a:t>Summer Training
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12724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DCDD"/>
                </a:solidFill>
                <a:latin typeface="Aptos"/>
              </a:rPr>
              <a:t>Mohammed Khubrani &amp; Mohammed Baaqil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52958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5C6C9"/>
                </a:solidFill>
                <a:latin typeface="Aptos"/>
              </a:rPr>
              <a:t>King Abdulaziz University  •  College of Mining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886200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5C6C9"/>
                </a:solidFill>
                <a:latin typeface="Aptos"/>
              </a:rPr>
              <a:t>Mineral Resources and Rocks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6126480" cy="1078992"/>
          </a:xfrm>
          <a:prstGeom prst="roundRect">
            <a:avLst/>
          </a:prstGeom>
          <a:solidFill>
            <a:srgbClr val="0C1D2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443984"/>
            <a:ext cx="50292" cy="1078992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63440"/>
            <a:ext cx="5650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FF5F5"/>
                </a:solidFill>
                <a:latin typeface="Aptos"/>
              </a:rPr>
              <a:t>A hands-on geological exploration program focused on field mapping, core logging, and trenching — supported by ArcGIS Pro and Fusion.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Training Projects &amp; Team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5C6C9"/>
                </a:solidFill>
                <a:latin typeface="Aptos"/>
              </a:rPr>
              <a:t>Working alongside GMCO geologists and technical staff, the training followed a structured workflow from field data collection to digital interpretation.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2377440" cy="205740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50292" cy="205740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Field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96312"/>
            <a:ext cx="199339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Work with geologists
and technical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38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874519"/>
            <a:ext cx="2377440" cy="205740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74519"/>
            <a:ext cx="50292" cy="205740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496312"/>
            <a:ext cx="199339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Record observations,
measurements &amp;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1938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874519"/>
            <a:ext cx="2377440" cy="205740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74519"/>
            <a:ext cx="50292" cy="205740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Mapping &amp;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96312"/>
            <a:ext cx="199339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Map sites, log cores,
and trench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938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1874519"/>
            <a:ext cx="2377440" cy="205740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74519"/>
            <a:ext cx="50292" cy="2057400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Digital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2496312"/>
            <a:ext cx="1993392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Use ArcGIS Pro &amp; Fusion
for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1938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04</a:t>
            </a:r>
          </a:p>
        </p:txBody>
      </p:sp>
      <p:pic>
        <p:nvPicPr>
          <p:cNvPr id="30" name="Picture 29" descr="map2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51960"/>
            <a:ext cx="2377440" cy="1417320"/>
          </a:xfrm>
          <a:prstGeom prst="rect">
            <a:avLst/>
          </a:prstGeom>
        </p:spPr>
      </p:pic>
      <p:pic>
        <p:nvPicPr>
          <p:cNvPr id="31" name="Picture 30" descr="map4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4251960"/>
            <a:ext cx="2377440" cy="1417320"/>
          </a:xfrm>
          <a:prstGeom prst="rect">
            <a:avLst/>
          </a:prstGeom>
        </p:spPr>
      </p:pic>
      <p:pic>
        <p:nvPicPr>
          <p:cNvPr id="32" name="Picture 31" descr="map7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251960"/>
            <a:ext cx="2377440" cy="1417320"/>
          </a:xfrm>
          <a:prstGeom prst="rect">
            <a:avLst/>
          </a:prstGeom>
        </p:spPr>
      </p:pic>
      <p:pic>
        <p:nvPicPr>
          <p:cNvPr id="33" name="Picture 32" descr="core_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968" y="4251960"/>
            <a:ext cx="2377440" cy="1417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368" y="58704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FF5F5"/>
                </a:solidFill>
                <a:latin typeface="Aptos"/>
              </a:rPr>
              <a:t>Each stage built on the last — from initial field observations through to processed digital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Geological Setting &amp; Mineralization Styles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C6C9"/>
                </a:solidFill>
                <a:latin typeface="Aptos"/>
              </a:rPr>
              <a:t>Overview of the project area, geological setting, and associated mineralization styles.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19072"/>
            <a:ext cx="6446520" cy="4096512"/>
          </a:xfrm>
          <a:prstGeom prst="roundRect">
            <a:avLst/>
          </a:prstGeom>
          <a:solidFill>
            <a:srgbClr val="0B1C22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50292" cy="4096512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Geological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1  Project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27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2  Major lithological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41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3  Structures</a:t>
            </a:r>
          </a:p>
        </p:txBody>
      </p:sp>
      <p:sp>
        <p:nvSpPr>
          <p:cNvPr id="16" name="Arc 15"/>
          <p:cNvSpPr/>
          <p:nvPr/>
        </p:nvSpPr>
        <p:spPr>
          <a:xfrm>
            <a:off x="3337560" y="2423160"/>
            <a:ext cx="2103120" cy="2468880"/>
          </a:xfrm>
          <a:prstGeom prst="arc">
            <a:avLst/>
          </a:prstGeom>
          <a:noFill/>
          <a:ln w="16510">
            <a:solidFill>
              <a:srgbClr val="1F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3566160" y="2496312"/>
            <a:ext cx="2103120" cy="2468880"/>
          </a:xfrm>
          <a:prstGeom prst="arc">
            <a:avLst/>
          </a:prstGeom>
          <a:noFill/>
          <a:ln w="16510">
            <a:solidFill>
              <a:srgbClr val="1F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3794760" y="2569464"/>
            <a:ext cx="2103120" cy="2468880"/>
          </a:xfrm>
          <a:prstGeom prst="arc">
            <a:avLst/>
          </a:prstGeom>
          <a:noFill/>
          <a:ln w="16510">
            <a:solidFill>
              <a:srgbClr val="1F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4023360" y="2642615"/>
            <a:ext cx="2103120" cy="2468880"/>
          </a:xfrm>
          <a:prstGeom prst="arc">
            <a:avLst/>
          </a:prstGeom>
          <a:noFill/>
          <a:ln w="16510">
            <a:solidFill>
              <a:srgbClr val="1F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251960" y="2715768"/>
            <a:ext cx="2103120" cy="2468880"/>
          </a:xfrm>
          <a:prstGeom prst="arc">
            <a:avLst/>
          </a:prstGeom>
          <a:noFill/>
          <a:ln w="16510">
            <a:solidFill>
              <a:srgbClr val="1F5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102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2A948"/>
                </a:solidFill>
                <a:latin typeface="Aptos"/>
              </a:rPr>
              <a:t>Lithology     Structure     Alteration     Mineralization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719072"/>
            <a:ext cx="4160520" cy="1874519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719072"/>
            <a:ext cx="50292" cy="1874519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883664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Orogenic 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2340864"/>
            <a:ext cx="377647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Structurally controlled gold mineralization associated with deformation zones, faults, and shear structures.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3822191"/>
            <a:ext cx="4160520" cy="1993392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822191"/>
            <a:ext cx="50292" cy="1993392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3986783"/>
            <a:ext cx="3794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VMS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4443983"/>
            <a:ext cx="377647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Volcanic-hosted hydrothermal mineralization characterized by sulfide-rich zones and associated alteration.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Geological Mapping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5C6C9"/>
                </a:solidFill>
                <a:latin typeface="Aptos"/>
              </a:rPr>
              <a:t>Field mapping developed core skills in lithology identification, structural observation, and geological interpretation — all digitized using ArcGIS Pro.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3840480" cy="9601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47088"/>
            <a:ext cx="50292" cy="9601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Field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68880"/>
            <a:ext cx="345643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Lithology, contacts, and structural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44368"/>
            <a:ext cx="3840480" cy="9601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50292" cy="9601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Data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566160"/>
            <a:ext cx="345643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GPS coordinates and field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41648"/>
            <a:ext cx="3840480" cy="9601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41648"/>
            <a:ext cx="50292" cy="9601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663440"/>
            <a:ext cx="345643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Geological analysis and unit boundaries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38928"/>
            <a:ext cx="3840480" cy="65836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138928"/>
            <a:ext cx="50292" cy="658368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ArcGIS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760720"/>
            <a:ext cx="3456432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Digitizing and compiling the geological map</a:t>
            </a:r>
          </a:p>
        </p:txBody>
      </p:sp>
      <p:pic>
        <p:nvPicPr>
          <p:cNvPr id="26" name="Picture 25" descr="map1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847088"/>
            <a:ext cx="3063240" cy="2029968"/>
          </a:xfrm>
          <a:prstGeom prst="rect">
            <a:avLst/>
          </a:prstGeom>
        </p:spPr>
      </p:pic>
      <p:pic>
        <p:nvPicPr>
          <p:cNvPr id="27" name="Picture 26" descr="map2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1847088"/>
            <a:ext cx="3063240" cy="2029968"/>
          </a:xfrm>
          <a:prstGeom prst="rect">
            <a:avLst/>
          </a:prstGeom>
        </p:spPr>
      </p:pic>
      <p:pic>
        <p:nvPicPr>
          <p:cNvPr id="28" name="Picture 27" descr="map3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096512"/>
            <a:ext cx="3063240" cy="1700784"/>
          </a:xfrm>
          <a:prstGeom prst="rect">
            <a:avLst/>
          </a:prstGeom>
        </p:spPr>
      </p:pic>
      <p:pic>
        <p:nvPicPr>
          <p:cNvPr id="29" name="Picture 28" descr="map4_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5008" y="4096512"/>
            <a:ext cx="3063240" cy="1700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Geological Mapping  |  Field Work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C6C9"/>
                </a:solidFill>
                <a:latin typeface="Aptos"/>
              </a:rPr>
              <a:t>Field tools and activities used to observe, measure, document, and interpret geology in the field.</a:t>
            </a:r>
          </a:p>
        </p:txBody>
      </p:sp>
      <p:pic>
        <p:nvPicPr>
          <p:cNvPr id="10" name="Picture 9" descr="map5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83080"/>
            <a:ext cx="3474720" cy="3794760"/>
          </a:xfrm>
          <a:prstGeom prst="rect">
            <a:avLst/>
          </a:prstGeom>
        </p:spPr>
      </p:pic>
      <p:pic>
        <p:nvPicPr>
          <p:cNvPr id="11" name="Picture 10" descr="map6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783080"/>
            <a:ext cx="3474720" cy="3794760"/>
          </a:xfrm>
          <a:prstGeom prst="rect">
            <a:avLst/>
          </a:prstGeom>
        </p:spPr>
      </p:pic>
      <p:pic>
        <p:nvPicPr>
          <p:cNvPr id="12" name="Picture 11" descr="map7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783080"/>
            <a:ext cx="3547872" cy="1828800"/>
          </a:xfrm>
          <a:prstGeom prst="rect">
            <a:avLst/>
          </a:prstGeom>
        </p:spPr>
      </p:pic>
      <p:pic>
        <p:nvPicPr>
          <p:cNvPr id="13" name="Picture 12" descr="map8_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3803904"/>
            <a:ext cx="3547872" cy="17739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57424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FF5F5"/>
                </a:solidFill>
                <a:latin typeface="Aptos"/>
              </a:rPr>
              <a:t>Field tools
Compass • hand lens • 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7424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FF5F5"/>
                </a:solidFill>
                <a:latin typeface="Aptos"/>
              </a:rPr>
              <a:t>Field activities
Structural measurements • rock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7424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FF5F5"/>
                </a:solidFill>
                <a:latin typeface="Aptos"/>
              </a:rPr>
              <a:t>Documentation
Samples • notes • mapped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Core Logging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5C6C9"/>
                </a:solidFill>
                <a:latin typeface="Aptos"/>
              </a:rPr>
              <a:t>Hands-on experience inspecting and logging drill cores — documenting lithology, texture, alteration, mineralization, veins, fractures, and core recovery using Fusion for digital data management.</a:t>
            </a:r>
          </a:p>
        </p:txBody>
      </p:sp>
      <p:pic>
        <p:nvPicPr>
          <p:cNvPr id="10" name="Picture 9" descr="core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1444752"/>
            <a:ext cx="3794760" cy="2423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2212848"/>
            <a:ext cx="3337560" cy="129844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12848"/>
            <a:ext cx="50292" cy="129844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3774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Core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34640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Lithology, texture, and rock 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2212848"/>
            <a:ext cx="3337560" cy="129844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3087" y="2212848"/>
            <a:ext cx="50292" cy="1298448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23774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Alteration &amp; Mineralization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834640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Quartz veins, fractures, and structural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30752"/>
            <a:ext cx="3337560" cy="129844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30752"/>
            <a:ext cx="50292" cy="129844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8953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Geotechnical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352544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Core recovery, RQD, fractures, and rock mass condition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33087" y="3730752"/>
            <a:ext cx="3337560" cy="129844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33087" y="3730752"/>
            <a:ext cx="50292" cy="1298448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5" y="38953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Fusion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4352544"/>
            <a:ext cx="2953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Digital logging and data integration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160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948"/>
                </a:solidFill>
                <a:latin typeface="Aptos"/>
              </a:rPr>
              <a:t>PHYSICAL CORE  →  LOGGING  →  DIGITAL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6177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FF5F5"/>
                </a:solidFill>
                <a:latin typeface="Aptos"/>
              </a:rPr>
              <a:t>Systematic observation and consistent documentation connect the physical core to an organized digital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Trenching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74980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5C6C9"/>
                </a:solidFill>
                <a:latin typeface="Aptos"/>
              </a:rPr>
              <a:t>Trench mapping provided direct exposure to subsurface geology — identifying lithological units, alteration zones, mineralization, and structural features across exposed sections.</a:t>
            </a:r>
          </a:p>
        </p:txBody>
      </p:sp>
      <p:pic>
        <p:nvPicPr>
          <p:cNvPr id="10" name="Picture 9" descr="trench1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874519"/>
            <a:ext cx="3474720" cy="2240280"/>
          </a:xfrm>
          <a:prstGeom prst="rect">
            <a:avLst/>
          </a:prstGeom>
        </p:spPr>
      </p:pic>
      <p:pic>
        <p:nvPicPr>
          <p:cNvPr id="11" name="Picture 10" descr="trench2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1874519"/>
            <a:ext cx="3474720" cy="2240280"/>
          </a:xfrm>
          <a:prstGeom prst="rect">
            <a:avLst/>
          </a:prstGeom>
        </p:spPr>
      </p:pic>
      <p:pic>
        <p:nvPicPr>
          <p:cNvPr id="12" name="Picture 11" descr="trench3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1874519"/>
            <a:ext cx="3438144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17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F5F5"/>
                </a:solidFill>
                <a:latin typeface="Aptos"/>
              </a:rPr>
              <a:t>Trench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00176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5C6C9"/>
                </a:solidFill>
                <a:latin typeface="Aptos"/>
              </a:rPr>
              <a:t>Site inspection and geological observation of exposed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4617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F5F5"/>
                </a:solidFill>
                <a:latin typeface="Aptos"/>
              </a:rPr>
              <a:t>Mapping &amp;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500176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5C6C9"/>
                </a:solidFill>
                <a:latin typeface="Aptos"/>
              </a:rPr>
              <a:t>Documentation of lithological contacts, alteration zones, mineralization, and structural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4343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2A94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617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F5F5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5001768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5C6C9"/>
                </a:solidFill>
                <a:latin typeface="Aptos"/>
              </a:rPr>
              <a:t>Interpretation of geological relationships and mineralization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Trenching  |  Documentation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C6C9"/>
                </a:solidFill>
                <a:latin typeface="Aptos"/>
              </a:rPr>
              <a:t>From exposed geology to systematic field documentation and interpretation.</a:t>
            </a:r>
          </a:p>
        </p:txBody>
      </p:sp>
      <p:pic>
        <p:nvPicPr>
          <p:cNvPr id="10" name="Picture 9" descr="trench3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83080"/>
            <a:ext cx="4663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23560" y="1783080"/>
            <a:ext cx="5897880" cy="4206240"/>
          </a:xfrm>
          <a:prstGeom prst="roundRect">
            <a:avLst/>
          </a:prstGeom>
          <a:solidFill>
            <a:srgbClr val="0B1D2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23560" y="1783080"/>
            <a:ext cx="50292" cy="4206240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20299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F5F5"/>
                </a:solidFill>
                <a:latin typeface="Aptos"/>
              </a:rPr>
              <a:t>Mapping &amp;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2542032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5C6C9"/>
                </a:solidFill>
                <a:latin typeface="Aptos"/>
              </a:rPr>
              <a:t>Document lithological contacts, alteration zones, mineralization observations, and structural features along exposed sections.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38587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F5F5"/>
                </a:solidFill>
                <a:latin typeface="Aptos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370832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5C6C9"/>
                </a:solidFill>
                <a:latin typeface="Aptos"/>
              </a:rPr>
              <a:t>Use field observations to build a clearer understanding of geological relationships and the patterns visible across the trench.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5532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948"/>
                </a:solidFill>
                <a:latin typeface="Aptos"/>
              </a:rPr>
              <a:t>01  OBSERVE     02  DOCUMENT     03  INTERPRET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Field Environment &amp; Camp Life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F5F5"/>
                </a:solidFill>
                <a:latin typeface="Aptos"/>
              </a:rPr>
              <a:t>"Adapting to a new place and experiencing a different side of field life."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474720" cy="14173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0292" cy="14173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Getting used to the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04872"/>
            <a:ext cx="309067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Adapting to the desert, the camp, the weather, and the daily field routine.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74720" cy="14173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50292" cy="14173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Camp 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404872"/>
            <a:ext cx="309067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A comfortable and well-equipped camp with the essential facilities, great food, and a pleasant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783080"/>
            <a:ext cx="3547872" cy="1417320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783080"/>
            <a:ext cx="50292" cy="1417320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47672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Personnel &amp; Team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404872"/>
            <a:ext cx="31638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Building professional relationships, collaborating effectively, and sharing knowledge and experience.</a:t>
            </a:r>
          </a:p>
        </p:txBody>
      </p:sp>
      <p:pic>
        <p:nvPicPr>
          <p:cNvPr id="22" name="Picture 21" descr="map1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56432"/>
            <a:ext cx="2542032" cy="1600200"/>
          </a:xfrm>
          <a:prstGeom prst="rect">
            <a:avLst/>
          </a:prstGeom>
        </p:spPr>
      </p:pic>
      <p:pic>
        <p:nvPicPr>
          <p:cNvPr id="23" name="Picture 22" descr="map2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456432"/>
            <a:ext cx="2542032" cy="1600200"/>
          </a:xfrm>
          <a:prstGeom prst="rect">
            <a:avLst/>
          </a:prstGeom>
        </p:spPr>
      </p:pic>
      <p:pic>
        <p:nvPicPr>
          <p:cNvPr id="24" name="Picture 23" descr="map6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3456432"/>
            <a:ext cx="2542032" cy="1600200"/>
          </a:xfrm>
          <a:prstGeom prst="rect">
            <a:avLst/>
          </a:prstGeom>
        </p:spPr>
      </p:pic>
      <p:pic>
        <p:nvPicPr>
          <p:cNvPr id="25" name="Picture 24" descr="map8_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3104" y="3456432"/>
            <a:ext cx="2688336" cy="1600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58368" y="5321808"/>
            <a:ext cx="10863072" cy="658368"/>
          </a:xfrm>
          <a:prstGeom prst="roundRect">
            <a:avLst/>
          </a:prstGeom>
          <a:solidFill>
            <a:srgbClr val="0C1D2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321808"/>
            <a:ext cx="50292" cy="65836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513832"/>
            <a:ext cx="10378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FF5F5"/>
                </a:solidFill>
                <a:latin typeface="Aptos"/>
              </a:rPr>
              <a:t>We genuinely enjoyed the place, the people, the work, and even the simple moments in between.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Conclusion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F5F5"/>
                </a:solidFill>
                <a:latin typeface="Aptos"/>
              </a:rPr>
              <a:t>"This training experience allowed me to connect academic geological knowledge with real-world exploration practices."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5257800" cy="111556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31343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Field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70632"/>
            <a:ext cx="4873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Mapping, core logging, and trenching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48840"/>
            <a:ext cx="5285232" cy="111556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148840"/>
            <a:ext cx="50292" cy="1115568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31343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Digital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70632"/>
            <a:ext cx="4901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ArcGIS Pro and Fusion proficiency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93008"/>
            <a:ext cx="5257800" cy="111556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93008"/>
            <a:ext cx="50292" cy="111556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57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114800"/>
            <a:ext cx="4873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Geological observation and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493008"/>
            <a:ext cx="5285232" cy="1115568"/>
          </a:xfrm>
          <a:prstGeom prst="roundRect">
            <a:avLst/>
          </a:prstGeom>
          <a:solidFill>
            <a:srgbClr val="152B3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3493008"/>
            <a:ext cx="50292" cy="1115568"/>
          </a:xfrm>
          <a:prstGeom prst="rect">
            <a:avLst/>
          </a:prstGeom>
          <a:solidFill>
            <a:srgbClr val="D2A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657600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Teamwork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14800"/>
            <a:ext cx="4901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6C9"/>
                </a:solidFill>
                <a:latin typeface="Aptos"/>
              </a:rPr>
              <a:t>Professional collaboration and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56048"/>
            <a:ext cx="10863072" cy="941832"/>
          </a:xfrm>
          <a:prstGeom prst="roundRect">
            <a:avLst/>
          </a:prstGeom>
          <a:solidFill>
            <a:srgbClr val="0C1D2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956048"/>
            <a:ext cx="50292" cy="941832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184648"/>
            <a:ext cx="10378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0">
                <a:solidFill>
                  <a:srgbClr val="EFF5F5"/>
                </a:solidFill>
                <a:latin typeface="Aptos"/>
              </a:rPr>
              <a:t>Special thanks to GMCO and all supervisors, geologists, and team members for their guidance and support throughout this program.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logical_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93776"/>
            <a:ext cx="960120" cy="32004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FF5F5"/>
                </a:solidFill>
                <a:latin typeface="Aptos Display"/>
              </a:rPr>
              <a:t>Thank You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1325880" cy="438912"/>
          </a:xfrm>
          <a:prstGeom prst="rect">
            <a:avLst/>
          </a:prstGeom>
        </p:spPr>
      </p:pic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292608"/>
            <a:ext cx="1051560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9224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E93"/>
                </a:solidFill>
                <a:latin typeface="Aptos"/>
              </a:rPr>
              <a:t>GMCO  •  SUMMER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D2A948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FF5F5"/>
                </a:solidFill>
                <a:latin typeface="Aptos Display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95728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5C6C9"/>
                </a:solidFill>
                <a:latin typeface="Aptos"/>
              </a:rPr>
              <a:t>Thank you to GMCO, our supervisors, geologists, and the entire training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46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F5F5"/>
                </a:solidFill>
                <a:latin typeface="Aptos"/>
              </a:rPr>
              <a:t>Mohammed Khubrani &amp; Mohammed Baaqil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75887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5C6C9"/>
                </a:solidFill>
                <a:latin typeface="Aptos"/>
              </a:rPr>
              <a:t>King Abdulaziz University  •  College of Mining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44752"/>
            <a:ext cx="3246120" cy="3246120"/>
          </a:xfrm>
          <a:prstGeom prst="roundRect">
            <a:avLst/>
          </a:prstGeom>
          <a:solidFill>
            <a:srgbClr val="F2F5F2"/>
          </a:solidFill>
          <a:ln w="25400">
            <a:solidFill>
              <a:srgbClr val="D2A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810512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0536" y="1810512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2952" y="1810512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2157984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08008" y="2157984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852928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0536" y="2852928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2952" y="2852928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3200400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08008" y="3200400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895344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0536" y="3895344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02952" y="3895344"/>
            <a:ext cx="210312" cy="210312"/>
          </a:xfrm>
          <a:prstGeom prst="rect">
            <a:avLst/>
          </a:prstGeom>
          <a:solidFill>
            <a:srgbClr val="0F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1605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2A948"/>
                </a:solidFill>
                <a:latin typeface="Aptos"/>
              </a:rPr>
              <a:t>SCAN FOR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617720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5C6C9"/>
                </a:solidFill>
                <a:latin typeface="Aptos"/>
              </a:rPr>
              <a:t>[ QR CODE / LINK 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047488"/>
            <a:ext cx="5989320" cy="658368"/>
          </a:xfrm>
          <a:prstGeom prst="roundRect">
            <a:avLst/>
          </a:prstGeom>
          <a:solidFill>
            <a:srgbClr val="0C1D24"/>
          </a:solidFill>
          <a:ln w="15240">
            <a:solidFill>
              <a:srgbClr val="2A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047488"/>
            <a:ext cx="50292" cy="658368"/>
          </a:xfrm>
          <a:prstGeom prst="rect">
            <a:avLst/>
          </a:prstGeom>
          <a:solidFill>
            <a:srgbClr val="16B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23951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EFF5F5"/>
                </a:solidFill>
                <a:latin typeface="Aptos"/>
              </a:rPr>
              <a:t>From academic knowledge to practical geological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