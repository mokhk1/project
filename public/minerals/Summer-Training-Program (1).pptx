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embeddedFontLst>
    <p:embeddedFont>
      <p:font typeface="Cabin"/>
      <p:regular r:id="rId201314"/>
    </p:embeddedFont>
    <p:embeddedFont>
      <p:font typeface="Cabin Bold"/>
      <p:regular r:id="rId201315"/>
    </p:embeddedFont>
    <p:embeddedFont>
      <p:font typeface="Unbounded"/>
      <p:regular r:id="rId201316"/>
    </p:embeddedFont>
    <p:embeddedFont>
      <p:font typeface="Unbounded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Decorative background treatment: add subtle verdigris-inspired geometric accents such as thin arcs, faint circles, and light diagonal lines behind the content. Keep the elements low-contrast and non-intrusive so the diagram and text remain clearly readable.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jpeg"/><Relationship Id="rId3" Type="http://schemas.openxmlformats.org/officeDocument/2006/relationships/image" Target="../media/image-1002-3.png"/><Relationship Id="rId5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4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3-2.jpeg"/><Relationship Id="rId3" Type="http://schemas.openxmlformats.org/officeDocument/2006/relationships/image" Target="../media/image-1002-3.png"/><Relationship Id="rId5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4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4-2.jpeg"/><Relationship Id="rId3" Type="http://schemas.openxmlformats.org/officeDocument/2006/relationships/image" Target="../media/image-1002-3.png"/><Relationship Id="rId5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4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5-2.jpeg"/><Relationship Id="rId3" Type="http://schemas.openxmlformats.org/officeDocument/2006/relationships/image" Target="../media/image-1002-3.png"/><Relationship Id="rId5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4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6-2.jpeg"/><Relationship Id="rId3" Type="http://schemas.openxmlformats.org/officeDocument/2006/relationships/image" Target="../media/image-1002-3.png"/><Relationship Id="rId5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7-2.jpeg"/><Relationship Id="rId3" Type="http://schemas.openxmlformats.org/officeDocument/2006/relationships/image" Target="../media/image-1002-3.png"/><Relationship Id="rId5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2836">
              <a:alpha val="80000"/>
            </a:srgbClr>
          </a:solidFill>
          <a:ln/>
        </p:spPr>
      </p:sp>
      <p:pic>
        <p:nvPicPr>
          <p:cNvPr id="6" name="Image 2" descr="preencoded.png">
            <a:hlinkClick r:id="rId4" tooltip="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2836">
              <a:alpha val="80000"/>
            </a:srgbClr>
          </a:solidFill>
          <a:ln/>
        </p:spPr>
      </p:sp>
      <p:pic>
        <p:nvPicPr>
          <p:cNvPr id="6" name="Image 2" descr="preencoded.png">
            <a:hlinkClick r:id="rId4" tooltip="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2836">
              <a:alpha val="80000"/>
            </a:srgbClr>
          </a:solidFill>
          <a:ln/>
        </p:spPr>
      </p:sp>
      <p:pic>
        <p:nvPicPr>
          <p:cNvPr id="6" name="Image 2" descr="preencoded.png">
            <a:hlinkClick r:id="rId4" tooltip="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2836">
              <a:alpha val="80000"/>
            </a:srgbClr>
          </a:solidFill>
          <a:ln/>
        </p:spPr>
      </p:sp>
      <p:pic>
        <p:nvPicPr>
          <p:cNvPr id="6" name="Image 2" descr="preencoded.png">
            <a:hlinkClick r:id="rId4" tooltip="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2836">
              <a:alpha val="80000"/>
            </a:srgbClr>
          </a:solidFill>
          <a:ln/>
        </p:spPr>
      </p:sp>
      <p:pic>
        <p:nvPicPr>
          <p:cNvPr id="6" name="Image 2" descr="preencoded.png">
            <a:hlinkClick r:id="rId4" tooltip="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2836">
              <a:alpha val="80000"/>
            </a:srgbClr>
          </a:solidFill>
          <a:ln/>
        </p:spPr>
      </p:sp>
      <p:pic>
        <p:nvPicPr>
          <p:cNvPr id="6" name="Image 2" descr="preencoded.png">
            <a:hlinkClick r:id="rId4" tooltip="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image" Target="../media/image-4-2.png"/><Relationship Id="rId5" Type="http://schemas.openxmlformats.org/officeDocument/2006/relationships/image" Target="../media/image-4-3.svg"/><Relationship Id="rId6" Type="http://schemas.openxmlformats.org/officeDocument/2006/relationships/image" Target="../media/image-4-2.png"/><Relationship Id="rId7" Type="http://schemas.openxmlformats.org/officeDocument/2006/relationships/image" Target="../media/image-4-3.svg"/><Relationship Id="rId8" Type="http://schemas.openxmlformats.org/officeDocument/2006/relationships/image" Target="../media/image-4-2.png"/><Relationship Id="rId9" Type="http://schemas.openxmlformats.org/officeDocument/2006/relationships/image" Target="../media/image-4-3.svg"/><Relationship Id="rId10" Type="http://schemas.openxmlformats.org/officeDocument/2006/relationships/slideLayout" Target="../slideLayouts/slideLayout5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jpe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8086" y="2203648"/>
            <a:ext cx="2960316" cy="303113"/>
          </a:xfrm>
          <a:prstGeom prst="roundRect">
            <a:avLst>
              <a:gd name="adj" fmla="val 7897"/>
            </a:avLst>
          </a:prstGeom>
          <a:solidFill>
            <a:srgbClr val="054842"/>
          </a:solidFill>
          <a:ln/>
        </p:spPr>
      </p:sp>
      <p:sp>
        <p:nvSpPr>
          <p:cNvPr id="3" name="Text 1"/>
          <p:cNvSpPr/>
          <p:nvPr/>
        </p:nvSpPr>
        <p:spPr>
          <a:xfrm>
            <a:off x="817740" y="2263477"/>
            <a:ext cx="3330591" cy="183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GMCO · SUMMER TRAINING PROGRAM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98086" y="2586534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Summer Training Program</a:t>
            </a:r>
            <a:endParaRPr lang="en-US" sz="3650" dirty="0"/>
          </a:p>
        </p:txBody>
      </p:sp>
      <p:sp>
        <p:nvSpPr>
          <p:cNvPr id="5" name="Text 3"/>
          <p:cNvSpPr/>
          <p:nvPr/>
        </p:nvSpPr>
        <p:spPr>
          <a:xfrm>
            <a:off x="698086" y="3472359"/>
            <a:ext cx="10795524" cy="11818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750"/>
              </a:spcAft>
              <a:buNone/>
            </a:pPr>
            <a:r>
              <a:rPr lang="en-US" sz="15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Mohammed Khubrani &amp; Mohammed Baaqil</a:t>
            </a:r>
            <a:pPr algn="l" indent="0" marL="0">
              <a:lnSpc>
                <a:spcPct val="133000"/>
              </a:lnSpc>
              <a:spcAft>
                <a:spcPts val="1750"/>
              </a:spcAft>
              <a:buNone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· King Abdulaziz University · College of Mining · Mineral Resources and Rocks</a:t>
            </a:r>
            <a:endParaRPr lang="en-US" sz="15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 hands-on geological exploration program at GMCO, focused on field mapping, core logging, and trenching — supported by ArcGIS Pro and Fusion for digital geological workflows.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676870"/>
            <a:ext cx="10795524" cy="4105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Training Projects &amp; Team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698086" y="1233984"/>
            <a:ext cx="11405108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Working alongside GMCO geologists and technical staff, the program followed a structured workflow from field data collection through to digital interpretation.</a:t>
            </a:r>
            <a:endParaRPr lang="en-US" sz="10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17394" y="1533723"/>
            <a:ext cx="7556807" cy="331489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607533" y="3691020"/>
            <a:ext cx="1142106" cy="384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Data Collection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607533" y="4133878"/>
            <a:ext cx="1142106" cy="417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9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Record field observations and notes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8235735" y="3691020"/>
            <a:ext cx="1142106" cy="384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Digital Processing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235735" y="4133878"/>
            <a:ext cx="1142106" cy="417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9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Interpret data in ArcGIS Pro and Fusion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2833423" y="1831658"/>
            <a:ext cx="1142106" cy="192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Field Team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2833423" y="2082171"/>
            <a:ext cx="1142106" cy="2781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9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Work with geologists and technicians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447082" y="1831658"/>
            <a:ext cx="1142106" cy="384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Mapping &amp; Logging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447082" y="2274514"/>
            <a:ext cx="1142106" cy="2781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9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Map sites, log cores, and trench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98086" y="4958556"/>
            <a:ext cx="11405108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Each stage built on the last — from initial field observations through to processed digital deliverables.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98086" y="5258296"/>
            <a:ext cx="3533290" cy="922834"/>
          </a:xfrm>
          <a:prstGeom prst="roundRect">
            <a:avLst>
              <a:gd name="adj" fmla="val 2270"/>
            </a:avLst>
          </a:prstGeom>
          <a:solidFill>
            <a:srgbClr val="304755"/>
          </a:solidFill>
          <a:ln/>
        </p:spPr>
      </p:sp>
      <p:sp>
        <p:nvSpPr>
          <p:cNvPr id="15" name="Text 12"/>
          <p:cNvSpPr/>
          <p:nvPr/>
        </p:nvSpPr>
        <p:spPr>
          <a:xfrm>
            <a:off x="837683" y="5397897"/>
            <a:ext cx="3254095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Field Collaboration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837683" y="5661918"/>
            <a:ext cx="3254095" cy="3796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Worked alongside experienced geologists on active exploration projects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329103" y="5258296"/>
            <a:ext cx="3533389" cy="922834"/>
          </a:xfrm>
          <a:prstGeom prst="roundRect">
            <a:avLst>
              <a:gd name="adj" fmla="val 2270"/>
            </a:avLst>
          </a:prstGeom>
          <a:solidFill>
            <a:srgbClr val="304755"/>
          </a:solidFill>
          <a:ln/>
        </p:spPr>
      </p:sp>
      <p:sp>
        <p:nvSpPr>
          <p:cNvPr id="18" name="Text 15"/>
          <p:cNvSpPr/>
          <p:nvPr/>
        </p:nvSpPr>
        <p:spPr>
          <a:xfrm>
            <a:off x="4468701" y="5397897"/>
            <a:ext cx="3254194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Data Collection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4468701" y="5661918"/>
            <a:ext cx="3254194" cy="3796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Systematic field observations, measurements, and documentation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7960220" y="5258296"/>
            <a:ext cx="3533389" cy="922834"/>
          </a:xfrm>
          <a:prstGeom prst="roundRect">
            <a:avLst>
              <a:gd name="adj" fmla="val 2270"/>
            </a:avLst>
          </a:prstGeom>
          <a:solidFill>
            <a:srgbClr val="304755"/>
          </a:solidFill>
          <a:ln/>
        </p:spPr>
      </p:sp>
      <p:sp>
        <p:nvSpPr>
          <p:cNvPr id="21" name="Text 18"/>
          <p:cNvSpPr/>
          <p:nvPr/>
        </p:nvSpPr>
        <p:spPr>
          <a:xfrm>
            <a:off x="8099818" y="5397897"/>
            <a:ext cx="3254194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Digital Workflows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8099818" y="5661918"/>
            <a:ext cx="3254194" cy="3796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ArcGIS Pro and Fusion for geological data processing and interpretation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709613"/>
            <a:ext cx="10795524" cy="519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Geological Mapping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98086" y="1464171"/>
            <a:ext cx="11405108" cy="266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Field mapping developed core skills in lithology identification, structural observation, and geological interpretation — all digitized using ArcGIS Pro.</a:t>
            </a:r>
            <a:endParaRPr lang="en-US" sz="13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086" y="1906885"/>
            <a:ext cx="883620" cy="106035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38269" y="2083594"/>
            <a:ext cx="9755340" cy="259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Field Observation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738269" y="2437408"/>
            <a:ext cx="9755340" cy="266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Lithology, contacts, and structural features</a:t>
            </a:r>
            <a:endParaRPr lang="en-US" sz="13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086" y="2967236"/>
            <a:ext cx="883620" cy="106035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738269" y="3143945"/>
            <a:ext cx="9755340" cy="259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Data Collection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1738269" y="3497759"/>
            <a:ext cx="9755340" cy="266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GPS coordinates and field documentation</a:t>
            </a:r>
            <a:endParaRPr lang="en-US" sz="13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086" y="4027587"/>
            <a:ext cx="883620" cy="106035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738269" y="4204295"/>
            <a:ext cx="9755340" cy="259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Interpretation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1738269" y="4558109"/>
            <a:ext cx="9755340" cy="266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Geological analysis and unit boundaries</a:t>
            </a:r>
            <a:endParaRPr lang="en-US" sz="13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086" y="5087938"/>
            <a:ext cx="883620" cy="1060351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738269" y="5264646"/>
            <a:ext cx="9755340" cy="259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ArcGIS Pro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1738269" y="5618460"/>
            <a:ext cx="9755340" cy="266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Digitizing and compiling the geological map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744240"/>
            <a:ext cx="10795524" cy="557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Core Logging</a:t>
            </a:r>
            <a:endParaRPr lang="en-US" sz="35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56596" y="1774031"/>
            <a:ext cx="3125312" cy="22316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15107" y="2003127"/>
            <a:ext cx="3289813" cy="17734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Hands-on experience inspecting and logging drill cores — documenting lithology, texture, alteration, mineralization, quartz veins, fractures, and core recovery using Fusion for digital data management.</a:t>
            </a:r>
            <a:endParaRPr lang="en-US" sz="14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8086" y="4410670"/>
            <a:ext cx="2563848" cy="170309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14586" y="4625578"/>
            <a:ext cx="2032445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Core Inspection</a:t>
            </a:r>
            <a:endParaRPr lang="en-US" sz="1750" dirty="0"/>
          </a:p>
        </p:txBody>
      </p:sp>
      <p:sp>
        <p:nvSpPr>
          <p:cNvPr id="7" name="Text 3"/>
          <p:cNvSpPr/>
          <p:nvPr/>
        </p:nvSpPr>
        <p:spPr>
          <a:xfrm>
            <a:off x="1014586" y="5290741"/>
            <a:ext cx="2032445" cy="5911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Lithology, texture, and rock description</a:t>
            </a:r>
            <a:endParaRPr lang="en-US" sz="14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41912" y="4410670"/>
            <a:ext cx="2563947" cy="170309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758411" y="4625578"/>
            <a:ext cx="2032544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Alteration &amp; Mineralization</a:t>
            </a:r>
            <a:endParaRPr lang="en-US" sz="1750" dirty="0"/>
          </a:p>
        </p:txBody>
      </p:sp>
      <p:sp>
        <p:nvSpPr>
          <p:cNvPr id="10" name="Text 5"/>
          <p:cNvSpPr/>
          <p:nvPr/>
        </p:nvSpPr>
        <p:spPr>
          <a:xfrm>
            <a:off x="3758411" y="5290741"/>
            <a:ext cx="2032544" cy="5911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Quartz veins, fractures, and structural features</a:t>
            </a:r>
            <a:endParaRPr lang="en-US" sz="14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185837" y="4410670"/>
            <a:ext cx="2563848" cy="170309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502337" y="4625578"/>
            <a:ext cx="2032445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Core Recovery</a:t>
            </a:r>
            <a:endParaRPr lang="en-US" sz="1750" dirty="0"/>
          </a:p>
        </p:txBody>
      </p:sp>
      <p:sp>
        <p:nvSpPr>
          <p:cNvPr id="13" name="Text 7"/>
          <p:cNvSpPr/>
          <p:nvPr/>
        </p:nvSpPr>
        <p:spPr>
          <a:xfrm>
            <a:off x="6502337" y="5012134"/>
            <a:ext cx="2032445" cy="8867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Recovery observations and geological documentation</a:t>
            </a:r>
            <a:endParaRPr lang="en-US" sz="14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929663" y="4410670"/>
            <a:ext cx="2563947" cy="170309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9246162" y="4625578"/>
            <a:ext cx="2032544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Fusion Platform</a:t>
            </a:r>
            <a:endParaRPr lang="en-US" sz="1750" dirty="0"/>
          </a:p>
        </p:txBody>
      </p:sp>
      <p:sp>
        <p:nvSpPr>
          <p:cNvPr id="16" name="Text 9"/>
          <p:cNvSpPr/>
          <p:nvPr/>
        </p:nvSpPr>
        <p:spPr>
          <a:xfrm>
            <a:off x="9246162" y="5290741"/>
            <a:ext cx="2032544" cy="5911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Digital logging and data integration workflow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675084"/>
            <a:ext cx="10795524" cy="440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Trenching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086" y="1409601"/>
            <a:ext cx="2513644" cy="3351609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4153" y="1409601"/>
            <a:ext cx="2516025" cy="335478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150220" y="2432348"/>
            <a:ext cx="3354800" cy="1309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Trench mapping provided direct exposure to subsurface geology — identifying lithological units, alteration zones, mineralization, and structural features across exposed sections.</a:t>
            </a:r>
            <a:endParaRPr lang="en-US" sz="1450" dirty="0"/>
          </a:p>
        </p:txBody>
      </p:sp>
      <p:sp>
        <p:nvSpPr>
          <p:cNvPr id="6" name="Text 2"/>
          <p:cNvSpPr/>
          <p:nvPr/>
        </p:nvSpPr>
        <p:spPr>
          <a:xfrm>
            <a:off x="698086" y="5016798"/>
            <a:ext cx="299137" cy="1869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01</a:t>
            </a:r>
            <a:endParaRPr lang="en-US" sz="1150" dirty="0"/>
          </a:p>
        </p:txBody>
      </p:sp>
      <p:sp>
        <p:nvSpPr>
          <p:cNvPr id="7" name="Shape 3"/>
          <p:cNvSpPr/>
          <p:nvPr/>
        </p:nvSpPr>
        <p:spPr>
          <a:xfrm>
            <a:off x="698086" y="5251847"/>
            <a:ext cx="3523765" cy="19050"/>
          </a:xfrm>
          <a:prstGeom prst="rect">
            <a:avLst/>
          </a:prstGeom>
          <a:solidFill>
            <a:srgbClr val="0A988B"/>
          </a:solidFill>
          <a:ln/>
        </p:spPr>
      </p:sp>
      <p:sp>
        <p:nvSpPr>
          <p:cNvPr id="8" name="Text 4"/>
          <p:cNvSpPr/>
          <p:nvPr/>
        </p:nvSpPr>
        <p:spPr>
          <a:xfrm>
            <a:off x="698086" y="5364659"/>
            <a:ext cx="3523765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Trench Exposure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698086" y="5651897"/>
            <a:ext cx="3523765" cy="209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Site inspection and geological observation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4333965" y="5016798"/>
            <a:ext cx="299137" cy="1869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02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4333965" y="5251847"/>
            <a:ext cx="3523765" cy="19050"/>
          </a:xfrm>
          <a:prstGeom prst="rect">
            <a:avLst/>
          </a:prstGeom>
          <a:solidFill>
            <a:srgbClr val="0A988B"/>
          </a:solidFill>
          <a:ln/>
        </p:spPr>
      </p:sp>
      <p:sp>
        <p:nvSpPr>
          <p:cNvPr id="12" name="Text 8"/>
          <p:cNvSpPr/>
          <p:nvPr/>
        </p:nvSpPr>
        <p:spPr>
          <a:xfrm>
            <a:off x="4333965" y="5364659"/>
            <a:ext cx="3523765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Mapping &amp; Documentation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333965" y="5651897"/>
            <a:ext cx="3523765" cy="418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Lithological contacts, alteration zones, and structural features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7969844" y="5016798"/>
            <a:ext cx="299137" cy="1869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03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7969844" y="5251847"/>
            <a:ext cx="3523765" cy="19050"/>
          </a:xfrm>
          <a:prstGeom prst="rect">
            <a:avLst/>
          </a:prstGeom>
          <a:solidFill>
            <a:srgbClr val="0A988B"/>
          </a:solidFill>
          <a:ln/>
        </p:spPr>
      </p:sp>
      <p:sp>
        <p:nvSpPr>
          <p:cNvPr id="16" name="Text 12"/>
          <p:cNvSpPr/>
          <p:nvPr/>
        </p:nvSpPr>
        <p:spPr>
          <a:xfrm>
            <a:off x="7969844" y="5364659"/>
            <a:ext cx="3523765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Interpretation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7969844" y="5651897"/>
            <a:ext cx="3523765" cy="418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Analysis of exposed geology and mineralization patterns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64158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Conclusion &amp; Thank You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997223" y="1674316"/>
            <a:ext cx="11105971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"This training experience allowed me to connect academic geological knowledge with real-world exploration practices."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698086" y="1449983"/>
            <a:ext cx="25399" cy="767854"/>
          </a:xfrm>
          <a:prstGeom prst="roundRect">
            <a:avLst>
              <a:gd name="adj" fmla="val 50001"/>
            </a:avLst>
          </a:prstGeom>
          <a:solidFill>
            <a:srgbClr val="0A988B"/>
          </a:solidFill>
          <a:ln/>
        </p:spPr>
      </p:sp>
      <p:sp>
        <p:nvSpPr>
          <p:cNvPr id="5" name="Shape 3"/>
          <p:cNvSpPr/>
          <p:nvPr/>
        </p:nvSpPr>
        <p:spPr>
          <a:xfrm>
            <a:off x="698086" y="2442170"/>
            <a:ext cx="5298049" cy="1130995"/>
          </a:xfrm>
          <a:prstGeom prst="roundRect">
            <a:avLst>
              <a:gd name="adj" fmla="val 2646"/>
            </a:avLst>
          </a:prstGeom>
          <a:solidFill>
            <a:srgbClr val="304755"/>
          </a:solidFill>
          <a:ln/>
        </p:spPr>
      </p:sp>
      <p:sp>
        <p:nvSpPr>
          <p:cNvPr id="6" name="Text 4"/>
          <p:cNvSpPr/>
          <p:nvPr/>
        </p:nvSpPr>
        <p:spPr>
          <a:xfrm>
            <a:off x="897510" y="2641600"/>
            <a:ext cx="4899200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Field Skills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7510" y="3054548"/>
            <a:ext cx="4899200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Mapping, core logging, and trenching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6195560" y="2442170"/>
            <a:ext cx="5298049" cy="1130995"/>
          </a:xfrm>
          <a:prstGeom prst="roundRect">
            <a:avLst>
              <a:gd name="adj" fmla="val 2646"/>
            </a:avLst>
          </a:prstGeom>
          <a:solidFill>
            <a:srgbClr val="304755"/>
          </a:solidFill>
          <a:ln/>
        </p:spPr>
      </p:sp>
      <p:sp>
        <p:nvSpPr>
          <p:cNvPr id="9" name="Text 7"/>
          <p:cNvSpPr/>
          <p:nvPr/>
        </p:nvSpPr>
        <p:spPr>
          <a:xfrm>
            <a:off x="6394985" y="2641600"/>
            <a:ext cx="4899200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Digital Tools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394985" y="3054548"/>
            <a:ext cx="4899200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ArcGIS Pro and Fusion proficiency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98086" y="3772595"/>
            <a:ext cx="5298049" cy="1130995"/>
          </a:xfrm>
          <a:prstGeom prst="roundRect">
            <a:avLst>
              <a:gd name="adj" fmla="val 2646"/>
            </a:avLst>
          </a:prstGeom>
          <a:solidFill>
            <a:srgbClr val="304755"/>
          </a:solidFill>
          <a:ln/>
        </p:spPr>
      </p:sp>
      <p:sp>
        <p:nvSpPr>
          <p:cNvPr id="12" name="Text 10"/>
          <p:cNvSpPr/>
          <p:nvPr/>
        </p:nvSpPr>
        <p:spPr>
          <a:xfrm>
            <a:off x="897510" y="3972024"/>
            <a:ext cx="4899200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Interpretation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97510" y="4384973"/>
            <a:ext cx="4899200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Geological observation and analysis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6195560" y="3772595"/>
            <a:ext cx="5298049" cy="1130995"/>
          </a:xfrm>
          <a:prstGeom prst="roundRect">
            <a:avLst>
              <a:gd name="adj" fmla="val 2646"/>
            </a:avLst>
          </a:prstGeom>
          <a:solidFill>
            <a:srgbClr val="304755"/>
          </a:solidFill>
          <a:ln/>
        </p:spPr>
      </p:sp>
      <p:sp>
        <p:nvSpPr>
          <p:cNvPr id="15" name="Text 13"/>
          <p:cNvSpPr/>
          <p:nvPr/>
        </p:nvSpPr>
        <p:spPr>
          <a:xfrm>
            <a:off x="6394985" y="3972024"/>
            <a:ext cx="4899200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Teamwork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394985" y="4384973"/>
            <a:ext cx="4899200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Professional collaboration and communication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98086" y="5127923"/>
            <a:ext cx="10795524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Special thanks to </a:t>
            </a:r>
            <a:pPr algn="l" indent="0" marL="0">
              <a:lnSpc>
                <a:spcPct val="133000"/>
              </a:lnSpc>
              <a:buNone/>
            </a:pPr>
            <a:r>
              <a:rPr lang="en-US" sz="15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GMCO</a:t>
            </a:r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and all supervisors, geologists, and team members for their guidance and support throughout this program.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698086" y="5990630"/>
            <a:ext cx="4172540" cy="303113"/>
          </a:xfrm>
          <a:prstGeom prst="roundRect">
            <a:avLst>
              <a:gd name="adj" fmla="val 7897"/>
            </a:avLst>
          </a:prstGeom>
          <a:noFill/>
          <a:ln w="6350">
            <a:solidFill>
              <a:srgbClr val="0A988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7740" y="6050459"/>
            <a:ext cx="4542815" cy="183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250" dirty="0">
                <a:solidFill>
                  <a:srgbClr val="0A988B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MOHAMMED KHUBRANI · KING ABDULAZIZ UNIVERSITY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2026-08-11T11:37:26Z</dcterms:created>
  <dcterms:modified xsi:type="dcterms:W3CDTF">2026-08-11T11:37:26Z</dcterms:modified>
</cp:coreProperties>
</file>